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31520"/>
            <a:ext cx="12161520" cy="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463040"/>
            <a:ext cx="12161520" cy="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926080"/>
            <a:ext cx="12161520" cy="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0"/>
            <a:ext cx="12161520" cy="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20640"/>
            <a:ext cx="12161520" cy="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0"/>
            <a:ext cx="12161520" cy="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9525">
            <a:solidFill>
              <a:srgbClr val="153A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2C47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 HACKATHON  2026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224028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&amp; Cost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Platform</a:t>
            </a:r>
            <a:endParaRPr lang="en-US" sz="4600" dirty="0"/>
          </a:p>
        </p:txBody>
      </p:sp>
      <p:sp>
        <p:nvSpPr>
          <p:cNvPr id="30" name="Text 28"/>
          <p:cNvSpPr/>
          <p:nvPr/>
        </p:nvSpPr>
        <p:spPr>
          <a:xfrm>
            <a:off x="822960" y="41605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application for engineering headcount planning, project allocation,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multi-level cost tracking — built on a shared Supabase/PostgreSQL database.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960" y="5394960"/>
            <a:ext cx="1033272" cy="365760"/>
          </a:xfrm>
          <a:prstGeom prst="roundRect">
            <a:avLst>
              <a:gd name="adj" fmla="val 20000"/>
            </a:avLst>
          </a:prstGeom>
          <a:solidFill>
            <a:srgbClr val="123A57"/>
          </a:solidFill>
          <a:ln w="9525">
            <a:solidFill>
              <a:srgbClr val="004B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394960"/>
            <a:ext cx="1033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39112" y="5394960"/>
            <a:ext cx="950976" cy="365760"/>
          </a:xfrm>
          <a:prstGeom prst="roundRect">
            <a:avLst>
              <a:gd name="adj" fmla="val 20000"/>
            </a:avLst>
          </a:prstGeom>
          <a:solidFill>
            <a:srgbClr val="123A57"/>
          </a:solidFill>
          <a:ln w="9525">
            <a:solidFill>
              <a:srgbClr val="004B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39112" y="539496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72968" y="5394960"/>
            <a:ext cx="2020824" cy="365760"/>
          </a:xfrm>
          <a:prstGeom prst="roundRect">
            <a:avLst>
              <a:gd name="adj" fmla="val 20000"/>
            </a:avLst>
          </a:prstGeom>
          <a:solidFill>
            <a:srgbClr val="123A57"/>
          </a:solidFill>
          <a:ln w="9525">
            <a:solidFill>
              <a:srgbClr val="004B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72968" y="5394960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Supabase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76672" y="5394960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123A57"/>
          </a:solidFill>
          <a:ln w="9525">
            <a:solidFill>
              <a:srgbClr val="004B8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6672" y="5394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deliverable that lets an engineering organization plan people, projects, and cost together.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5727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roster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928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employees, teams, departments, and locations.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4871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(projects)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8072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initiatives with objectives, deliverables, and status.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4015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allocation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7216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employees to topics as a % of their available capacity.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3159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cost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6360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tooling, testing, and recovery alongside computed personnel cost.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52303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5504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CSV import and Excel/CSV exports, including exec cost reports.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0A2C47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 DELIVERABLE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resource_planning_app/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26974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multi-user Streamlit app with authentication, role-based access, and a shared database — the functional core of the repo.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0" y="3657600"/>
            <a:ext cx="4480560" cy="0"/>
          </a:xfrm>
          <a:prstGeom prst="line">
            <a:avLst/>
          </a:prstGeom>
          <a:noFill/>
          <a:ln w="12700">
            <a:solidFill>
              <a:srgbClr val="234C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REPO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420624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kautex_bi_dashboard*.py — standalone executive BI prototype</a:t>
            </a:r>
            <a:endParaRPr lang="en-US" sz="1150" dirty="0"/>
          </a:p>
          <a:p>
            <a:pPr marL="152400" indent="-1524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/ Login.py (root) — superseded legacy scaffold</a:t>
            </a:r>
            <a:endParaRPr lang="en-US" sz="1150" dirty="0"/>
          </a:p>
          <a:p>
            <a:pPr marL="152400" indent="-1524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seed_employee.csv, seed_topics.csv — sample data</a:t>
            </a:r>
            <a:endParaRPr lang="en-US" sz="1150" dirty="0"/>
          </a:p>
          <a:p>
            <a:pPr marL="152400" indent="-1524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QUICKSTART.md, DEPLOYMENT_GUIDE.md — planning notes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RESOURCE &amp; COST PLANNING  |  HACKATHON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layout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app is organized in clean layers under resource_planning_app/.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0A2C4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84248"/>
            <a:ext cx="2697480" cy="393192"/>
          </a:xfrm>
          <a:prstGeom prst="rect">
            <a:avLst/>
          </a:prstGeom>
          <a:solidFill>
            <a:srgbClr val="0A2C47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9164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app_pages/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039112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331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login.py · register.py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employees.py (admin)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allocation_matrix.py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47288" y="160020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7288" y="16002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0A2C47"/>
          </a:solidFill>
          <a:ln/>
        </p:spPr>
      </p:sp>
      <p:sp>
        <p:nvSpPr>
          <p:cNvPr id="12" name="Shape 10"/>
          <p:cNvSpPr/>
          <p:nvPr/>
        </p:nvSpPr>
        <p:spPr>
          <a:xfrm>
            <a:off x="3447288" y="1984248"/>
            <a:ext cx="2697480" cy="393192"/>
          </a:xfrm>
          <a:prstGeom prst="rect">
            <a:avLst/>
          </a:prstGeom>
          <a:solidFill>
            <a:srgbClr val="0A2C47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69164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2039112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30168" y="2514600"/>
            <a:ext cx="2331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employee_service.py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topic_service.py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allocation_service.py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cost_service.py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auth_service.py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 import_service.py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45936" y="160020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45936" y="16002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0A2C47"/>
          </a:solidFill>
          <a:ln/>
        </p:spPr>
      </p:sp>
      <p:sp>
        <p:nvSpPr>
          <p:cNvPr id="18" name="Shape 16"/>
          <p:cNvSpPr/>
          <p:nvPr/>
        </p:nvSpPr>
        <p:spPr>
          <a:xfrm>
            <a:off x="6345936" y="1984248"/>
            <a:ext cx="2697480" cy="393192"/>
          </a:xfrm>
          <a:prstGeom prst="rect">
            <a:avLst/>
          </a:prstGeom>
          <a:solidFill>
            <a:srgbClr val="0A2C47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169164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10528" y="2039112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 tables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28816" y="2514600"/>
            <a:ext cx="2331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employee.py · team.py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department.py · location.py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cost_item.py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user.py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44584" y="160020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16002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0A2C47"/>
          </a:solidFill>
          <a:ln/>
        </p:spPr>
      </p:sp>
      <p:sp>
        <p:nvSpPr>
          <p:cNvPr id="24" name="Shape 22"/>
          <p:cNvSpPr/>
          <p:nvPr/>
        </p:nvSpPr>
        <p:spPr>
          <a:xfrm>
            <a:off x="9244584" y="1984248"/>
            <a:ext cx="2697480" cy="393192"/>
          </a:xfrm>
          <a:prstGeom prst="rect">
            <a:avLst/>
          </a:prstGeom>
          <a:solidFill>
            <a:srgbClr val="0A2C47"/>
          </a:solidFill>
          <a:ln/>
        </p:spPr>
      </p:sp>
      <p:sp>
        <p:nvSpPr>
          <p:cNvPr id="25" name="Text 23"/>
          <p:cNvSpPr/>
          <p:nvPr/>
        </p:nvSpPr>
        <p:spPr>
          <a:xfrm>
            <a:off x="9409176" y="169164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database/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09176" y="2039112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&amp; setup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27464" y="2514600"/>
            <a:ext cx="2331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init_db.py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migrate_to_supabase.py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RESOURCE &amp; COST PLANNING  |  HACKATHON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with focused pages for each part of the planning workflow.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hashing; self-service sign-up creates Employee accounts, Admins are seeded. Admins get an extra Employees page.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8562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CRUD: name, team, department, location, available hours/year, hourly rate, status, manager, notes.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096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management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/ delete topics with category, area, objective, deliverables, business justification, and status. Mass CSV import.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114800"/>
            <a:ext cx="502920" cy="50292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096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matrix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92240" y="47548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any employee to any topic as % of capacity, with live utilization tracking across all their assignments.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RESOURCE &amp; COST PLANNING  |  HACKATHON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2C4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3246120"/>
            <a:ext cx="1463040" cy="0"/>
          </a:xfrm>
          <a:prstGeom prst="line">
            <a:avLst/>
          </a:prstGeom>
          <a:noFill/>
          <a:ln w="38100">
            <a:solidFill>
              <a:srgbClr val="4FB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383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IN THIS RELEASE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Structural Data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Full Interactivity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redesigned corporate login experience and a live data-driven dashboard, built directly on the hackathon's operational dataset.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123A5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46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Login Page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18688" y="4846320"/>
            <a:ext cx="2560320" cy="411480"/>
          </a:xfrm>
          <a:prstGeom prst="roundRect">
            <a:avLst>
              <a:gd name="adj" fmla="val 20000"/>
            </a:avLst>
          </a:prstGeom>
          <a:solidFill>
            <a:srgbClr val="123A5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4846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Routing Engine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80176" y="4846320"/>
            <a:ext cx="2560320" cy="411480"/>
          </a:xfrm>
          <a:prstGeom prst="roundRect">
            <a:avLst>
              <a:gd name="adj" fmla="val 20000"/>
            </a:avLst>
          </a:prstGeom>
          <a:solidFill>
            <a:srgbClr val="123A5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0176" y="4846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Data Integration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41664" y="4846320"/>
            <a:ext cx="2103120" cy="411480"/>
          </a:xfrm>
          <a:prstGeom prst="roundRect">
            <a:avLst>
              <a:gd name="adj" fmla="val 20000"/>
            </a:avLst>
          </a:prstGeom>
          <a:solidFill>
            <a:srgbClr val="123A5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41664" y="4846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RESOURCE &amp; COST PLANNING  |  HACKATHON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corporate login page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app_pages/login.py — a clean, brand-accurate entry point that reveals no data before authentication.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5875">
            <a:solidFill>
              <a:srgbClr val="DEE2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0A2C4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5212080" cy="246888"/>
          </a:xfrm>
          <a:prstGeom prst="rect">
            <a:avLst/>
          </a:prstGeom>
          <a:solidFill>
            <a:srgbClr val="0A2C4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 |  Resource Planning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655064"/>
            <a:ext cx="118872" cy="118872"/>
          </a:xfrm>
          <a:prstGeom prst="ellipse">
            <a:avLst/>
          </a:prstGeom>
          <a:solidFill>
            <a:srgbClr val="3FCF6E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5727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Online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48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⊙  Routed to: EU-Central Hub (Bonn / Craiova)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090672"/>
            <a:ext cx="4572000" cy="384048"/>
          </a:xfrm>
          <a:prstGeom prst="roundRect">
            <a:avLst>
              <a:gd name="adj" fmla="val 11905"/>
            </a:avLst>
          </a:prstGeom>
          <a:solidFill>
            <a:srgbClr val="F4F5F7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84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4572000" cy="384048"/>
          </a:xfrm>
          <a:prstGeom prst="roundRect">
            <a:avLst>
              <a:gd name="adj" fmla="val 11905"/>
            </a:avLst>
          </a:prstGeom>
          <a:solidFill>
            <a:srgbClr val="F4F5F7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8404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••••••••••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38912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004B8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8912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AA7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9834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Test Gateway Latency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5532120"/>
            <a:ext cx="457200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650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Request Admin Access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14630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463040"/>
            <a:ext cx="73152" cy="10972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554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09360" y="187452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all raw Excel/CSV data rows from the entry page — clean and interactive, with no sensitive data revealed prematurely.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265176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2651760"/>
            <a:ext cx="73152" cy="10972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corporate identity styling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309360" y="306324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using the official Kautex Textron palette (Deep Blue #004B87), grey canvas containers, and an animated green pulse dot signaling live server connection.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384048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3840480"/>
            <a:ext cx="73152" cy="10972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931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testing widget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309360" y="425196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network telemetry simulator (“Test Gateway Latency”) that demonstrates connection health without hardcoding real backend changes.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50292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5029200"/>
            <a:ext cx="73152" cy="10972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5120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access requests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309360" y="544068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built-in registration form under a collapsible menu for users requiring administrator credentials.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RESOURCE &amp; COST PLANNING  |  HACKATHON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routing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infrastructure path indicator reads browser request headers to automatically identify the user's closest global plant network array.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123A57"/>
          </a:solidFill>
          <a:ln w="15875">
            <a:solidFill>
              <a:srgbClr val="004B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97380" y="2514600"/>
            <a:ext cx="822960" cy="82296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6" name="Text 4"/>
          <p:cNvSpPr/>
          <p:nvPr/>
        </p:nvSpPr>
        <p:spPr>
          <a:xfrm>
            <a:off x="189738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EU-Central Hub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9593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  ·  Craiova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4434840"/>
            <a:ext cx="2423160" cy="0"/>
          </a:xfrm>
          <a:prstGeom prst="line">
            <a:avLst/>
          </a:prstGeom>
          <a:noFill/>
          <a:ln w="12700">
            <a:solidFill>
              <a:srgbClr val="234C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6177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European engineering &amp; testing corridor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123A57"/>
          </a:solidFill>
          <a:ln w="15875">
            <a:solidFill>
              <a:srgbClr val="004B8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92140" y="2514600"/>
            <a:ext cx="822960" cy="82296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13" name="Text 11"/>
          <p:cNvSpPr/>
          <p:nvPr/>
        </p:nvSpPr>
        <p:spPr>
          <a:xfrm>
            <a:off x="569214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6280" y="3566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AP-East Hub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26280" y="39593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4434840"/>
            <a:ext cx="2423160" cy="0"/>
          </a:xfrm>
          <a:prstGeom prst="line">
            <a:avLst/>
          </a:prstGeom>
          <a:noFill/>
          <a:ln w="12700">
            <a:solidFill>
              <a:srgbClr val="234C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6177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Asia-Pacific manufacturing &amp; test network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21488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123A57"/>
          </a:solidFill>
          <a:ln w="15875">
            <a:solidFill>
              <a:srgbClr val="004B8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86900" y="2514600"/>
            <a:ext cx="822960" cy="82296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20" name="Text 18"/>
          <p:cNvSpPr/>
          <p:nvPr/>
        </p:nvSpPr>
        <p:spPr>
          <a:xfrm>
            <a:off x="948690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21040" y="3566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NA-North Hub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321040" y="39593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0" y="4434840"/>
            <a:ext cx="2423160" cy="0"/>
          </a:xfrm>
          <a:prstGeom prst="line">
            <a:avLst/>
          </a:prstGeom>
          <a:noFill/>
          <a:ln w="12700">
            <a:solidFill>
              <a:srgbClr val="234C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6177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American plant &amp; engineering array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RESOURCE &amp; COST PLANNING  |  HACKATHON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data integration &amp;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app_pages/dashboard.py — live capacity and rate registers driven straight off the hackathon dataset.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integration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data ingestion to a streamlined CSV file, Hackathon Database (Good).csv.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8562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data parsing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targeted Pandas extraction pipeline skips blank entries, generic templates, and subtotals — pinpointing the Hourly Rates &amp; Regional Capacities Matrix starting precisely at row 31.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1879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register grid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real-time capacity and rate registers by facility (GV CAE Bonn, GV Test Romania, GV CAE India, etc.), formatting baseline hourly rates and planned operational hours cleanly.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1879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metric charts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48463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horizontal bar chart (Matplotlib), styled to the Kautex brand, tracks target allocations across regional engineering and testing teams with embedded data labels.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RESOURCE &amp; COST PLANNING  |  HACKATHON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CSV to executive insight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dashboard's data pipeline, stage by stage.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880360" cy="1188720"/>
          </a:xfrm>
          <a:prstGeom prst="roundRect">
            <a:avLst>
              <a:gd name="adj" fmla="val 6154"/>
            </a:avLst>
          </a:prstGeom>
          <a:solidFill>
            <a:srgbClr val="123A57"/>
          </a:solidFill>
          <a:ln w="12700">
            <a:solidFill>
              <a:srgbClr val="234C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Database (Good).csv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operational export used as the single data source.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 rot="5400000">
            <a:off x="3566160" y="2496312"/>
            <a:ext cx="274320" cy="219456"/>
          </a:xfrm>
          <a:prstGeom prst="triangle">
            <a:avLst/>
          </a:prstGeom>
          <a:solidFill>
            <a:srgbClr val="9AA7B2"/>
          </a:solidFill>
          <a:ln/>
        </p:spPr>
      </p:sp>
      <p:sp>
        <p:nvSpPr>
          <p:cNvPr id="8" name="Shape 6"/>
          <p:cNvSpPr/>
          <p:nvPr/>
        </p:nvSpPr>
        <p:spPr>
          <a:xfrm>
            <a:off x="3977640" y="2011680"/>
            <a:ext cx="2880360" cy="1188720"/>
          </a:xfrm>
          <a:prstGeom prst="roundRect">
            <a:avLst>
              <a:gd name="adj" fmla="val 6154"/>
            </a:avLst>
          </a:prstGeom>
          <a:solidFill>
            <a:srgbClr val="004B87"/>
          </a:solidFill>
          <a:ln w="12700">
            <a:solidFill>
              <a:srgbClr val="234C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2148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parsing (Pandas)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0520" y="25146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blanks, templates &amp; subtotals; anchors at row 31.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 rot="5400000">
            <a:off x="6995160" y="2496312"/>
            <a:ext cx="274320" cy="219456"/>
          </a:xfrm>
          <a:prstGeom prst="triangle">
            <a:avLst/>
          </a:prstGeom>
          <a:solidFill>
            <a:srgbClr val="9AA7B2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6640" y="201168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23A57"/>
          </a:solidFill>
          <a:ln w="12700">
            <a:solidFill>
              <a:srgbClr val="234C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2148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Rates &amp; Regional Capacities Matrix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0" y="25146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structured table ready for the dashboard layer.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9509760" y="3200400"/>
            <a:ext cx="0" cy="45720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657600"/>
            <a:ext cx="3337560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657600"/>
            <a:ext cx="0" cy="32004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21240" y="3657600"/>
            <a:ext cx="0" cy="32004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397764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123A57"/>
          </a:solidFill>
          <a:ln w="15875">
            <a:solidFill>
              <a:srgbClr val="004B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Register Grid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03520" y="450799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capacity &amp; rate registers by facility — GV CAE Bonn, GV Test Romania, GV CAE India, and more.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412480" y="397764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123A57"/>
          </a:solidFill>
          <a:ln w="15875">
            <a:solidFill>
              <a:srgbClr val="004B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Metric Charts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95360" y="450799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Brand-styled Matplotlib bar chart of target allocations by region, with embedded data labels.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RESOURCE &amp; COST PLANNING  |  HACKATHON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Multi-level cost tracking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topic's total cost is computed from allocations plus categorized cost items.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23A57"/>
          </a:solidFill>
          <a:ln w="12700">
            <a:solidFill>
              <a:srgbClr val="234C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pPr algn="l" indent="0" marL="0">
              <a:buNone/>
            </a:pPr>
            <a:r>
              <a:rPr lang="en-US" sz="20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Personnel Cost</a:t>
            </a:r>
            <a:pPr algn="l" indent="0" marL="0">
              <a:buNone/>
            </a:pPr>
            <a:r>
              <a:rPr lang="en-US" sz="20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External Tooling  +  Testing  −  Recovery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Personnel Cost = Σ (allocated hours × hourly rate) across every employee assigned to the topic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004B87">
              <a:alpha val="45000"/>
            </a:srgbClr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566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software / equipment spend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34290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004B87">
              <a:alpha val="45000"/>
            </a:srgbClr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566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39319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testing cost per topic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34290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004B87">
              <a:alpha val="45000"/>
            </a:srgbClr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3566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39319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Rebilling that offsets total cost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B2E3F"/>
          </a:solidFill>
          <a:ln w="12700">
            <a:solidFill>
              <a:srgbClr val="9AA7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029200"/>
            <a:ext cx="502920" cy="502920"/>
          </a:xfrm>
          <a:prstGeom prst="ellipse">
            <a:avLst/>
          </a:prstGeom>
          <a:solidFill>
            <a:srgbClr val="4FB6E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4892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high-cost flagging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523036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where external costs exceed a configurable share of total cost are automatically flagged for executive review.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RESOURCE &amp; COST PLANNING  |  HACKATHON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SQLModel tables, created automatically on first run.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Entity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fields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C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Employee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A"/>
                          </a:solidFill>
                        </a:rPr>
                        <a:t>name, team_id, department_id, location_id, available_hours_per_year, hourly_rate, status, manager, notes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C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Team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A"/>
                          </a:solidFill>
                        </a:rPr>
                        <a:t>name, department_id, location_id, description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C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Department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A"/>
                          </a:solidFill>
                        </a:rPr>
                        <a:t>name, description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C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Location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A"/>
                          </a:solidFill>
                        </a:rPr>
                        <a:t>name, country, description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C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Topic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A"/>
                          </a:solidFill>
                        </a:rPr>
                        <a:t>name, category, area, description, objective, deliverables, business_justification, status, notes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C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Allocation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A"/>
                          </a:solidFill>
                        </a:rPr>
                        <a:t>employee_id (FK), topic_id (FK), allocation_percentage, comment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C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CostItem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A"/>
                          </a:solidFill>
                        </a:rPr>
                        <a:t>topic_id (FK), cost_type, amount, description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C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A"/>
                          </a:solidFill>
                        </a:rPr>
                        <a:t>username, password_hash, role, employee_id (FK, optional)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RESOURCE &amp; COST PLANNING  |  HACKATHON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clean layers — UI never talks to the database directly.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651760" y="1691640"/>
            <a:ext cx="6858000" cy="822960"/>
          </a:xfrm>
          <a:prstGeom prst="roundRect">
            <a:avLst>
              <a:gd name="adj" fmla="val 8889"/>
            </a:avLst>
          </a:prstGeom>
          <a:solidFill>
            <a:srgbClr val="0A2C47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0" y="18013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app_pages/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0" y="21488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— one file per page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rot="10800000">
            <a:off x="5971032" y="2551176"/>
            <a:ext cx="219456" cy="219456"/>
          </a:xfrm>
          <a:prstGeom prst="triangle">
            <a:avLst/>
          </a:prstGeom>
          <a:solidFill>
            <a:srgbClr val="9AA7B2"/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2834640"/>
            <a:ext cx="6858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9443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C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26080" y="32918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CRUD, cost aggregation, import/export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 rot="10800000">
            <a:off x="5971032" y="3694176"/>
            <a:ext cx="219456" cy="219456"/>
          </a:xfrm>
          <a:prstGeom prst="triangle">
            <a:avLst/>
          </a:prstGeom>
          <a:solidFill>
            <a:srgbClr val="9AA7B2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3977640"/>
            <a:ext cx="6858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40873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C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44348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 ORM table definitions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rot="10800000">
            <a:off x="5971032" y="4837176"/>
            <a:ext cx="219456" cy="219456"/>
          </a:xfrm>
          <a:prstGeom prst="triangle">
            <a:avLst/>
          </a:prstGeom>
          <a:solidFill>
            <a:srgbClr val="9AA7B2"/>
          </a:solidFill>
          <a:ln/>
        </p:spPr>
      </p:sp>
      <p:sp>
        <p:nvSpPr>
          <p:cNvPr id="16" name="Shape 14"/>
          <p:cNvSpPr/>
          <p:nvPr/>
        </p:nvSpPr>
        <p:spPr>
          <a:xfrm>
            <a:off x="2651760" y="5120640"/>
            <a:ext cx="6858000" cy="822960"/>
          </a:xfrm>
          <a:prstGeom prst="roundRect">
            <a:avLst>
              <a:gd name="adj" fmla="val 8889"/>
            </a:avLst>
          </a:prstGeom>
          <a:solidFill>
            <a:srgbClr val="004B87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52303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database/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6080" y="55778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 engine → Supabase / PostgreSQL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84080" y="1691640"/>
            <a:ext cx="1828800" cy="420624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21240" y="1828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921240" y="2148840"/>
            <a:ext cx="1554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utils/calculations.py holds pure, unit-testable cost math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cost_service.py aggregates in one round trip to avoid N+1 queries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page uses st.fragment to avoid full-page reruns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RESOURCE &amp; COST PLANNING  |  HACKATHON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pinned versions live in resource_planning_app/requirements.txt.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23A57"/>
          </a:solidFill>
          <a:ln w="12700">
            <a:solidFill>
              <a:srgbClr val="234C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1920240"/>
            <a:ext cx="548640" cy="548640"/>
          </a:xfrm>
          <a:prstGeom prst="ellipse">
            <a:avLst/>
          </a:prstGeom>
          <a:solidFill>
            <a:srgbClr val="4FB6E8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9535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Multipage app, st.navigation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23A57"/>
          </a:solidFill>
          <a:ln w="12700">
            <a:solidFill>
              <a:srgbClr val="234C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1980" y="1920240"/>
            <a:ext cx="548640" cy="548640"/>
          </a:xfrm>
          <a:prstGeom prst="ellipse">
            <a:avLst/>
          </a:prstGeom>
          <a:solidFill>
            <a:srgbClr val="4FB6E8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606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74720" y="29535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layer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23A57"/>
          </a:solidFill>
          <a:ln w="12700">
            <a:solidFill>
              <a:srgbClr val="234C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46620" y="1920240"/>
            <a:ext cx="548640" cy="548640"/>
          </a:xfrm>
          <a:prstGeom prst="ellipse">
            <a:avLst/>
          </a:prstGeom>
          <a:solidFill>
            <a:srgbClr val="4FB6E8"/>
          </a:solidFill>
          <a:ln/>
        </p:spPr>
      </p:sp>
      <p:sp>
        <p:nvSpPr>
          <p:cNvPr id="16" name="Text 14"/>
          <p:cNvSpPr/>
          <p:nvPr/>
        </p:nvSpPr>
        <p:spPr>
          <a:xfrm>
            <a:off x="72466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606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29535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via Supabase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23A57"/>
          </a:solidFill>
          <a:ln w="12700">
            <a:solidFill>
              <a:srgbClr val="234C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81260" y="1920240"/>
            <a:ext cx="548640" cy="548640"/>
          </a:xfrm>
          <a:prstGeom prst="ellipse">
            <a:avLst/>
          </a:prstGeom>
          <a:solidFill>
            <a:srgbClr val="4FB6E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8126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2606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0" y="29535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&amp; CSV parsing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23A57"/>
          </a:solidFill>
          <a:ln w="12700">
            <a:solidFill>
              <a:srgbClr val="234C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77340" y="3886200"/>
            <a:ext cx="548640" cy="548640"/>
          </a:xfrm>
          <a:prstGeom prst="ellipse">
            <a:avLst/>
          </a:prstGeom>
          <a:solidFill>
            <a:srgbClr val="4FB6E8"/>
          </a:solidFill>
          <a:ln/>
        </p:spPr>
      </p:sp>
      <p:sp>
        <p:nvSpPr>
          <p:cNvPr id="26" name="Text 24"/>
          <p:cNvSpPr/>
          <p:nvPr/>
        </p:nvSpPr>
        <p:spPr>
          <a:xfrm>
            <a:off x="157734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4572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 / Plotly / Matplotlib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491947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In-app, BI &amp; dashboard charts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3657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23A57"/>
          </a:solidFill>
          <a:ln w="12700">
            <a:solidFill>
              <a:srgbClr val="234C6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11980" y="3886200"/>
            <a:ext cx="548640" cy="548640"/>
          </a:xfrm>
          <a:prstGeom prst="ellipse">
            <a:avLst/>
          </a:prstGeom>
          <a:solidFill>
            <a:srgbClr val="4FB6E8"/>
          </a:solidFill>
          <a:ln/>
        </p:spPr>
      </p:sp>
      <p:sp>
        <p:nvSpPr>
          <p:cNvPr id="31" name="Text 29"/>
          <p:cNvSpPr/>
          <p:nvPr/>
        </p:nvSpPr>
        <p:spPr>
          <a:xfrm>
            <a:off x="441198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74720" y="4572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474720" y="491947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657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23A57"/>
          </a:solidFill>
          <a:ln w="12700">
            <a:solidFill>
              <a:srgbClr val="234C6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46620" y="3886200"/>
            <a:ext cx="548640" cy="548640"/>
          </a:xfrm>
          <a:prstGeom prst="ellipse">
            <a:avLst/>
          </a:prstGeom>
          <a:solidFill>
            <a:srgbClr val="4FB6E8"/>
          </a:solidFill>
          <a:ln/>
        </p:spPr>
      </p:sp>
      <p:sp>
        <p:nvSpPr>
          <p:cNvPr id="36" name="Text 34"/>
          <p:cNvSpPr/>
          <p:nvPr/>
        </p:nvSpPr>
        <p:spPr>
          <a:xfrm>
            <a:off x="724662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09360" y="4572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/ XlsxWriter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09360" y="491947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52560" y="3657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23A57"/>
          </a:solidFill>
          <a:ln w="12700">
            <a:solidFill>
              <a:srgbClr val="234C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81260" y="3886200"/>
            <a:ext cx="548640" cy="548640"/>
          </a:xfrm>
          <a:prstGeom prst="ellipse">
            <a:avLst/>
          </a:prstGeom>
          <a:solidFill>
            <a:srgbClr val="4FB6E8"/>
          </a:solidFill>
          <a:ln/>
        </p:spPr>
      </p:sp>
      <p:sp>
        <p:nvSpPr>
          <p:cNvPr id="41" name="Text 39"/>
          <p:cNvSpPr/>
          <p:nvPr/>
        </p:nvSpPr>
        <p:spPr>
          <a:xfrm>
            <a:off x="1008126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44000" y="4572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144000" y="491947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RESOURCE &amp; COST PLANNING  |  HACKATHON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after the hackathon build.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148840"/>
            <a:ext cx="0" cy="3364992"/>
          </a:xfrm>
          <a:prstGeom prst="line">
            <a:avLst/>
          </a:prstGeom>
          <a:noFill/>
          <a:ln w="25400">
            <a:solidFill>
              <a:srgbClr val="DEE2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A2C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63040" y="1874520"/>
            <a:ext cx="9692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874520"/>
            <a:ext cx="9235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Admin vs. Employee dashboards once distinct UX designs are finalized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761488"/>
            <a:ext cx="457200" cy="457200"/>
          </a:xfrm>
          <a:prstGeom prst="ellipse">
            <a:avLst/>
          </a:prstGeom>
          <a:solidFill>
            <a:srgbClr val="0A2C4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63040" y="2715768"/>
            <a:ext cx="9692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2715768"/>
            <a:ext cx="9235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“Forgot password” flow (currently a disabled placeholder)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602736"/>
            <a:ext cx="457200" cy="457200"/>
          </a:xfrm>
          <a:prstGeom prst="ellipse">
            <a:avLst/>
          </a:prstGeom>
          <a:solidFill>
            <a:srgbClr val="0A2C4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463040" y="3557016"/>
            <a:ext cx="9692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3557016"/>
            <a:ext cx="9235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(cookie-based) login sessions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4443984"/>
            <a:ext cx="457200" cy="457200"/>
          </a:xfrm>
          <a:prstGeom prst="ellipse">
            <a:avLst/>
          </a:prstGeom>
          <a:solidFill>
            <a:srgbClr val="0A2C4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43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63040" y="4398264"/>
            <a:ext cx="9692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4398264"/>
            <a:ext cx="9235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for the executive cost report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5285232"/>
            <a:ext cx="457200" cy="457200"/>
          </a:xfrm>
          <a:prstGeom prst="ellipse">
            <a:avLst/>
          </a:prstGeom>
          <a:solidFill>
            <a:srgbClr val="0A2C47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85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63040" y="5239512"/>
            <a:ext cx="9692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5239512"/>
            <a:ext cx="9235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/ audit trail for allocation and cost changes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RESOURCE &amp; COST PLANNING  |  HACKATHON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7315200" cy="3291840"/>
          </a:xfrm>
          <a:prstGeom prst="roundRect">
            <a:avLst>
              <a:gd name="adj" fmla="val 2222"/>
            </a:avLst>
          </a:prstGeom>
          <a:solidFill>
            <a:srgbClr val="081F33"/>
          </a:solidFill>
          <a:ln w="12700">
            <a:solidFill>
              <a:srgbClr val="234C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08760"/>
            <a:ext cx="67665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6F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resource_planning_app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6F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-r requirements.txt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6E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.streamlit/secrets.toml.example .streamlit/secrets.toml   # add DATABASE_URL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6F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database.init_db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6F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database.seed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6F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streamlit run app.py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138160" y="12344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123A57"/>
          </a:solidFill>
          <a:ln w="12700">
            <a:solidFill>
              <a:srgbClr val="234C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66760" y="173736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shared Supabase / PostgreSQL database — every user sees the same data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secrets.toml is gitignored — never commit real credentials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sample CSVs at repo root for quick import via Reports → Import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04B87">
              <a:alpha val="30000"/>
            </a:srgbClr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37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planning docs (QUICKSTART.md, DEPLOYMENT_GUIDE.md, etc.) conflict with the README or the code in resource_planning_app/, the README and code win.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KAUTEX RESOURCE &amp; COST PLANNING  |  HACKATHON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2026-07-12T15:36:16Z</dcterms:created>
  <dcterms:modified xsi:type="dcterms:W3CDTF">2026-07-12T15:36:16Z</dcterms:modified>
</cp:coreProperties>
</file>